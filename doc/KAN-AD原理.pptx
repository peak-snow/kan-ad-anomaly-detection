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4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08940" y="748665"/>
            <a:ext cx="6565265" cy="579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+mj-ea"/>
                <a:ea typeface="+mj-ea"/>
                <a:cs typeface="+mj-ea"/>
              </a:rPr>
              <a:t>KAN-AD</a:t>
            </a:r>
            <a:r>
              <a:rPr lang="en-US" altLang="zh-CN" sz="2400">
                <a:latin typeface="+mj-ea"/>
                <a:ea typeface="+mj-ea"/>
                <a:cs typeface="+mj-ea"/>
              </a:rPr>
              <a:t>: </a:t>
            </a:r>
            <a:r>
              <a:rPr lang="zh-CN" altLang="en-US" sz="2400">
                <a:latin typeface="+mj-ea"/>
                <a:ea typeface="+mj-ea"/>
                <a:cs typeface="+mj-ea"/>
              </a:rPr>
              <a:t>基于时间序列预测的异常检测方案</a:t>
            </a:r>
            <a:endParaRPr lang="zh-CN" altLang="en-US" sz="2400">
              <a:latin typeface="+mj-ea"/>
              <a:ea typeface="+mj-ea"/>
              <a:cs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8940" y="5251450"/>
            <a:ext cx="11593830" cy="866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我们可以认为，模型学习到了正确的时序演化规律，预测值是一个正常值。如果真实观测值与预测值偏差较大（比如</a:t>
            </a:r>
            <a:r>
              <a:rPr lang="en-US" altLang="zh-CN"/>
              <a:t> MSE </a:t>
            </a:r>
            <a:r>
              <a:rPr lang="zh-CN" altLang="en-US"/>
              <a:t>超过</a:t>
            </a:r>
            <a:r>
              <a:rPr lang="zh-CN" altLang="en-US"/>
              <a:t>某阈值），则该观测值属于</a:t>
            </a:r>
            <a:r>
              <a:rPr lang="zh-CN" altLang="en-US"/>
              <a:t>异常！</a:t>
            </a:r>
            <a:endParaRPr lang="zh-CN" altLang="en-US"/>
          </a:p>
        </p:txBody>
      </p:sp>
      <p:pic>
        <p:nvPicPr>
          <p:cNvPr id="5" name="图片 4" descr="1.drawi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140" y="1482725"/>
            <a:ext cx="11729720" cy="37750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408940" y="748665"/>
            <a:ext cx="10332720" cy="579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j-ea"/>
                <a:ea typeface="+mj-ea"/>
                <a:cs typeface="+mj-ea"/>
              </a:rPr>
              <a:t>模型特点</a:t>
            </a:r>
            <a:r>
              <a:rPr lang="en-US" altLang="zh-CN" sz="2400">
                <a:latin typeface="+mj-ea"/>
                <a:ea typeface="+mj-ea"/>
                <a:cs typeface="+mj-ea"/>
              </a:rPr>
              <a:t>——</a:t>
            </a:r>
            <a:r>
              <a:rPr lang="zh-CN" altLang="en-US" sz="2400">
                <a:latin typeface="+mj-ea"/>
                <a:ea typeface="+mj-ea"/>
                <a:cs typeface="+mj-ea"/>
              </a:rPr>
              <a:t>与原始</a:t>
            </a:r>
            <a:r>
              <a:rPr lang="en-US" altLang="zh-CN" sz="2400">
                <a:latin typeface="+mj-ea"/>
                <a:ea typeface="+mj-ea"/>
                <a:cs typeface="+mj-ea"/>
              </a:rPr>
              <a:t>KAN</a:t>
            </a:r>
            <a:r>
              <a:rPr lang="zh-CN" altLang="en-US" sz="2400">
                <a:latin typeface="+mj-ea"/>
                <a:ea typeface="+mj-ea"/>
                <a:cs typeface="+mj-ea"/>
              </a:rPr>
              <a:t>对比</a:t>
            </a:r>
            <a:r>
              <a:rPr lang="en-US" altLang="zh-CN" sz="2400">
                <a:latin typeface="+mj-ea"/>
                <a:ea typeface="+mj-ea"/>
                <a:cs typeface="+mj-ea"/>
              </a:rPr>
              <a:t>——</a:t>
            </a:r>
            <a:r>
              <a:rPr lang="zh-CN" altLang="en-US" sz="2400">
                <a:latin typeface="+mj-ea"/>
                <a:ea typeface="+mj-ea"/>
                <a:cs typeface="+mj-ea"/>
              </a:rPr>
              <a:t>把</a:t>
            </a:r>
            <a:r>
              <a:rPr lang="en-US" altLang="zh-CN" sz="2400">
                <a:latin typeface="+mj-ea"/>
                <a:ea typeface="+mj-ea"/>
                <a:cs typeface="+mj-ea"/>
              </a:rPr>
              <a:t>KAN</a:t>
            </a:r>
            <a:r>
              <a:rPr lang="zh-CN" altLang="en-US" sz="2400">
                <a:latin typeface="+mj-ea"/>
                <a:ea typeface="+mj-ea"/>
                <a:cs typeface="+mj-ea"/>
              </a:rPr>
              <a:t>里的</a:t>
            </a:r>
            <a:r>
              <a:rPr lang="en-US" altLang="zh-CN" sz="2400">
                <a:latin typeface="+mj-ea"/>
                <a:ea typeface="+mj-ea"/>
                <a:cs typeface="+mj-ea"/>
              </a:rPr>
              <a:t>B</a:t>
            </a:r>
            <a:r>
              <a:rPr lang="zh-CN" altLang="en-US" sz="2400">
                <a:latin typeface="+mj-ea"/>
                <a:ea typeface="+mj-ea"/>
                <a:cs typeface="+mj-ea"/>
              </a:rPr>
              <a:t>样条换成了傅里叶级数</a:t>
            </a:r>
            <a:endParaRPr lang="zh-CN" altLang="en-US" sz="2400">
              <a:latin typeface="+mj-ea"/>
              <a:ea typeface="+mj-ea"/>
              <a:cs typeface="+mj-ea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853440" y="1389380"/>
          <a:ext cx="10485120" cy="43561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242560"/>
                <a:gridCol w="5242560"/>
              </a:tblGrid>
              <a:tr h="1089025"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原始</a:t>
                      </a: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KAN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样条基函数）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KAN-AD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（傅里叶级数基函数）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108902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局部：调整一个点只影响附近区域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全局：正弦</a:t>
                      </a: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余弦波覆盖整个区间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108902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对数据毛刺高度敏感，容易过拟合噪声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天然过滤局部抖动，聚焦整体平滑趋势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108902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适合需要精确局部位移的任务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适合异常检测：只看“正常波形长什么样”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594360" y="2240280"/>
            <a:ext cx="1417320" cy="9144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SMD 38 维指标</a:t>
            </a:r>
            <a:endParaRPr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2011680" y="2697480"/>
            <a:ext cx="4297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68879" y="2240280"/>
            <a:ext cx="1417320" cy="9144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
训练集</a:t>
            </a:r>
            <a:r>
              <a:rPr 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拟合参数</a:t>
            </a:r>
            <a:endParaRPr lang="zh-CN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886200" y="2697480"/>
            <a:ext cx="4297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43400" y="2240280"/>
            <a:ext cx="1417320" cy="9144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滑动窗口
10 步 × 38 维</a:t>
            </a:r>
            <a:r>
              <a:rPr 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lang="zh-CN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760720" y="2697480"/>
            <a:ext cx="4297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17920" y="2240280"/>
            <a:ext cx="1417320" cy="9144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KAN-AD
傅里叶映射</a:t>
            </a:r>
            <a:endParaRPr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7635240" y="2697480"/>
            <a:ext cx="4297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92440" y="2240280"/>
            <a:ext cx="1417320" cy="9144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预测下一</a:t>
            </a:r>
            <a:r>
              <a:rPr 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38 维</a:t>
            </a:r>
            <a:r>
              <a:rPr 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</a:t>
            </a:r>
            <a:endParaRPr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4" name="Connector 13"/>
          <p:cNvCxnSpPr>
            <a:endCxn id="15" idx="1"/>
          </p:cNvCxnSpPr>
          <p:nvPr/>
        </p:nvCxnSpPr>
        <p:spPr>
          <a:xfrm>
            <a:off x="9509760" y="2697480"/>
            <a:ext cx="4572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66960" y="2240280"/>
            <a:ext cx="1417320" cy="9144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 MSE
并判定</a:t>
            </a:r>
            <a:endParaRPr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08940" y="4160520"/>
            <a:ext cx="5181600" cy="105156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7540" y="4370832"/>
            <a:ext cx="1005840" cy="31242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45720" tIns="18288" rIns="45720" bIns="18288" anchor="t">
            <a:spAutoFit/>
          </a:bodyPr>
          <a:lstStyle/>
          <a:p>
            <a:pPr algn="l"/>
            <a:r>
              <a:rPr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离线检测</a:t>
            </a:r>
            <a:endParaRPr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7540" y="4736465"/>
            <a:ext cx="4848225" cy="25590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45720" tIns="18288" rIns="45720" bIns="18288" anchor="t">
            <a:noAutofit/>
          </a:bodyPr>
          <a:lstStyle/>
          <a:p>
            <a:pPr algn="l"/>
            <a:r>
              <a:rPr sz="1400" b="0">
                <a:solidFill>
                  <a:srgbClr val="4F5C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一次性输入测试集，返回每个时间点的异常分数和 0/1 标签。</a:t>
            </a:r>
            <a:endParaRPr sz="1400" b="0">
              <a:solidFill>
                <a:srgbClr val="4F5C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033135" y="4160520"/>
            <a:ext cx="5351145" cy="105156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61735" y="4370832"/>
            <a:ext cx="1005840" cy="31242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45720" tIns="18288" rIns="45720" bIns="18288" anchor="t">
            <a:spAutoFit/>
          </a:bodyPr>
          <a:lstStyle/>
          <a:p>
            <a:pPr algn="l"/>
            <a:r>
              <a:rPr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流式检测</a:t>
            </a:r>
            <a:endParaRPr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61735" y="4736592"/>
            <a:ext cx="5027930" cy="25082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4F5C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每来一个新点，用前 10 个真实点预测当前点，立即返回结果。</a:t>
            </a:r>
            <a:endParaRPr sz="1400" b="0">
              <a:solidFill>
                <a:srgbClr val="4F5C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8940" y="748665"/>
            <a:ext cx="6565265" cy="579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+mj-ea"/>
              </a:rPr>
              <a:t>异常检测流程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+mj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</Words>
  <Application>WPS 演示</Application>
  <PresentationFormat>宽屏</PresentationFormat>
  <Paragraphs>44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Arial Unicode MS</vt:lpstr>
      <vt:lpstr>Calibri</vt:lpstr>
      <vt:lpstr>quote-cjk-patch</vt:lpstr>
      <vt:lpstr>Segoe Print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Xuefeng Zhang</dc:creator>
  <cp:lastModifiedBy>张雪峰</cp:lastModifiedBy>
  <cp:revision>33</cp:revision>
  <dcterms:created xsi:type="dcterms:W3CDTF">2023-08-09T12:44:00Z</dcterms:created>
  <dcterms:modified xsi:type="dcterms:W3CDTF">2026-09-09T18:52:06Z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45FDE9050C504F948FE086AB4F37A045_12</vt:lpwstr>
  </property>
</Properties>
</file>